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16335E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023360"/>
            <a:ext cx="5029200" cy="5029200"/>
          </a:xfrm>
          <a:prstGeom prst="ellipse">
            <a:avLst/>
          </a:prstGeom>
          <a:solidFill>
            <a:srgbClr val="10254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777240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63500" dist="25400" dir="8100000">
              <a:srgbClr val="0B1A33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186" y="940186"/>
            <a:ext cx="277612" cy="27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8686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DB2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AI ARCHITECTURE  ·  EXECUTIVE BRIEFING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1488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iDocs O2A — Senior Lien Verification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04672" y="334670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Current-State Architecture  ·  Scheduled Batch Automation  ·  Self-Optimizing Extraction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1435608" y="5266944"/>
            <a:ext cx="1216152" cy="0"/>
          </a:xfrm>
          <a:prstGeom prst="line">
            <a:avLst/>
          </a:prstGeom>
          <a:noFill/>
          <a:ln w="25400">
            <a:solidFill>
              <a:srgbClr val="2A4B7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4983480"/>
            <a:ext cx="566928" cy="566928"/>
          </a:xfrm>
          <a:prstGeom prst="ellipse">
            <a:avLst/>
          </a:prstGeom>
          <a:solidFill>
            <a:srgbClr val="2E5A8C"/>
          </a:solidFill>
          <a:ln/>
          <a:effectLst>
            <a:outerShdw sx="100000" sy="100000" kx="0" ky="0" algn="bl" rotWithShape="0" blurRad="63500" dist="25400" dir="8100000">
              <a:srgbClr val="0B1A33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51" y="5136551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" y="560527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218688" y="5266944"/>
            <a:ext cx="1216152" cy="0"/>
          </a:xfrm>
          <a:prstGeom prst="line">
            <a:avLst/>
          </a:prstGeom>
          <a:noFill/>
          <a:ln w="25400">
            <a:solidFill>
              <a:srgbClr val="2A4B7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651760" y="4983480"/>
            <a:ext cx="566928" cy="566928"/>
          </a:xfrm>
          <a:prstGeom prst="ellipse">
            <a:avLst/>
          </a:prstGeom>
          <a:solidFill>
            <a:srgbClr val="2C7A3F"/>
          </a:solidFill>
          <a:ln/>
          <a:effectLst>
            <a:outerShdw sx="100000" sy="100000" kx="0" ky="0" algn="bl" rotWithShape="0" blurRad="63500" dist="25400" dir="8100000">
              <a:srgbClr val="0B1A33">
                <a:alpha val="1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4831" y="5136551"/>
            <a:ext cx="260787" cy="26078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240280" y="560527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001768" y="5266944"/>
            <a:ext cx="1216152" cy="0"/>
          </a:xfrm>
          <a:prstGeom prst="line">
            <a:avLst/>
          </a:prstGeom>
          <a:noFill/>
          <a:ln w="25400">
            <a:solidFill>
              <a:srgbClr val="2A4B79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434840" y="4983480"/>
            <a:ext cx="566928" cy="566928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63500" dist="25400" dir="8100000">
              <a:srgbClr val="0B1A33">
                <a:alpha val="18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7911" y="5136551"/>
            <a:ext cx="260787" cy="26078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023360" y="560527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784848" y="5266944"/>
            <a:ext cx="1216152" cy="0"/>
          </a:xfrm>
          <a:prstGeom prst="line">
            <a:avLst/>
          </a:prstGeom>
          <a:noFill/>
          <a:ln w="25400">
            <a:solidFill>
              <a:srgbClr val="2A4B79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217920" y="4983480"/>
            <a:ext cx="566928" cy="566928"/>
          </a:xfrm>
          <a:prstGeom prst="ellipse">
            <a:avLst/>
          </a:prstGeom>
          <a:solidFill>
            <a:srgbClr val="B91C1C"/>
          </a:solidFill>
          <a:ln/>
          <a:effectLst>
            <a:outerShdw sx="100000" sy="100000" kx="0" ky="0" algn="bl" rotWithShape="0" blurRad="63500" dist="25400" dir="8100000">
              <a:srgbClr val="0B1A33">
                <a:alpha val="18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0991" y="5136551"/>
            <a:ext cx="260787" cy="26078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806440" y="560527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8567928" y="5266944"/>
            <a:ext cx="1216152" cy="0"/>
          </a:xfrm>
          <a:prstGeom prst="line">
            <a:avLst/>
          </a:prstGeom>
          <a:noFill/>
          <a:ln w="25400">
            <a:solidFill>
              <a:srgbClr val="2A4B79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8001000" y="4983480"/>
            <a:ext cx="566928" cy="566928"/>
          </a:xfrm>
          <a:prstGeom prst="ellipse">
            <a:avLst/>
          </a:prstGeom>
          <a:solidFill>
            <a:srgbClr val="6D28D9"/>
          </a:solidFill>
          <a:ln/>
          <a:effectLst>
            <a:outerShdw sx="100000" sy="100000" kx="0" ky="0" algn="bl" rotWithShape="0" blurRad="63500" dist="25400" dir="8100000">
              <a:srgbClr val="0B1A33">
                <a:alpha val="18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4071" y="5136551"/>
            <a:ext cx="260787" cy="26078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589520" y="560527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9784080" y="4983480"/>
            <a:ext cx="566928" cy="566928"/>
          </a:xfrm>
          <a:prstGeom prst="ellipse">
            <a:avLst/>
          </a:prstGeom>
          <a:solidFill>
            <a:srgbClr val="C2410C"/>
          </a:solidFill>
          <a:ln/>
          <a:effectLst>
            <a:outerShdw sx="100000" sy="100000" kx="0" ky="0" algn="bl" rotWithShape="0" blurRad="63500" dist="25400" dir="8100000">
              <a:srgbClr val="0B1A33">
                <a:alpha val="18000"/>
              </a:srgbClr>
            </a:outerShdw>
          </a:effectLst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7151" y="5136551"/>
            <a:ext cx="260787" cy="260787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9372600" y="560527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86868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8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safety net across every stage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SUMMARY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capabilities, one config-driven platform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production-grade multi-agent system that decides, runs itself on schedule, and tunes its own extraction prompts.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3602736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B1A33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27632"/>
            <a:ext cx="3602736" cy="1097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993392"/>
            <a:ext cx="713232" cy="713232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63500" dist="25400" dir="8100000">
              <a:srgbClr val="0B1A33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821" y="2185965"/>
            <a:ext cx="328087" cy="3280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83464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 SLV Pipeline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3383280"/>
            <a:ext cx="3054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specialized agents automate senior-lien decisioning end-to-end — intake, extraction, validation, verdict and System-of-Record update — with a human-in-the-loop safety net for exceptions.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34256" y="1627632"/>
            <a:ext cx="3602736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B1A33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34256" y="1627632"/>
            <a:ext cx="3602736" cy="109728"/>
          </a:xfrm>
          <a:prstGeom prst="rect">
            <a:avLst/>
          </a:prstGeom>
          <a:solidFill>
            <a:srgbClr val="2E5A8C"/>
          </a:solidFill>
          <a:ln/>
        </p:spPr>
      </p:sp>
      <p:sp>
        <p:nvSpPr>
          <p:cNvPr id="13" name="Shape 10"/>
          <p:cNvSpPr/>
          <p:nvPr/>
        </p:nvSpPr>
        <p:spPr>
          <a:xfrm>
            <a:off x="4626864" y="1993392"/>
            <a:ext cx="713232" cy="713232"/>
          </a:xfrm>
          <a:prstGeom prst="ellipse">
            <a:avLst/>
          </a:prstGeom>
          <a:solidFill>
            <a:srgbClr val="2E5A8C"/>
          </a:solidFill>
          <a:ln/>
          <a:effectLst>
            <a:outerShdw sx="100000" sy="100000" kx="0" ky="0" algn="bl" rotWithShape="0" blurRad="63500" dist="25400" dir="8100000">
              <a:srgbClr val="0B1A33">
                <a:alpha val="1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437" y="2185965"/>
            <a:ext cx="328087" cy="32808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08576" y="283464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Scheduled Batch Processing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608576" y="3383280"/>
            <a:ext cx="3054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cron scheduler pulls pending loans from the SOR database and runs the pipeline unattended. Failures are caught and retried automatically with exponential backoff — no silent drops.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19872" y="1627632"/>
            <a:ext cx="3602736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B1A33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119872" y="1627632"/>
            <a:ext cx="3602736" cy="1097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Shape 15"/>
          <p:cNvSpPr/>
          <p:nvPr/>
        </p:nvSpPr>
        <p:spPr>
          <a:xfrm>
            <a:off x="8412480" y="1993392"/>
            <a:ext cx="713232" cy="713232"/>
          </a:xfrm>
          <a:prstGeom prst="ellipse">
            <a:avLst/>
          </a:prstGeom>
          <a:solidFill>
            <a:srgbClr val="D97706"/>
          </a:solidFill>
          <a:ln/>
          <a:effectLst>
            <a:outerShdw sx="100000" sy="100000" kx="0" ky="0" algn="bl" rotWithShape="0" blurRad="63500" dist="25400" dir="8100000">
              <a:srgbClr val="0B1A33">
                <a:alpha val="18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5053" y="2185965"/>
            <a:ext cx="328087" cy="32808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94192" y="283464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Self-Optimizing Extraction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394192" y="3383280"/>
            <a:ext cx="3054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GEPA + RLM generate extraction prompts automatically from Skan AI ground truth and ECM OCR output. Zero manual prompt engineering; new document types onboard in hours.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48640" y="5029200"/>
            <a:ext cx="2697480" cy="12344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Shape 19"/>
          <p:cNvSpPr/>
          <p:nvPr/>
        </p:nvSpPr>
        <p:spPr>
          <a:xfrm>
            <a:off x="548640" y="5029200"/>
            <a:ext cx="73152" cy="1234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5" name="Text 20"/>
          <p:cNvSpPr/>
          <p:nvPr/>
        </p:nvSpPr>
        <p:spPr>
          <a:xfrm>
            <a:off x="749808" y="5175504"/>
            <a:ext cx="2386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60–80%</a:t>
            </a:r>
            <a:endParaRPr lang="en-US" sz="3000" dirty="0"/>
          </a:p>
        </p:txBody>
      </p:sp>
      <p:sp>
        <p:nvSpPr>
          <p:cNvPr id="26" name="Text 21"/>
          <p:cNvSpPr/>
          <p:nvPr/>
        </p:nvSpPr>
        <p:spPr>
          <a:xfrm>
            <a:off x="749808" y="5779008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prompt effort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3447288" y="5029200"/>
            <a:ext cx="2697480" cy="12344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Shape 23"/>
          <p:cNvSpPr/>
          <p:nvPr/>
        </p:nvSpPr>
        <p:spPr>
          <a:xfrm>
            <a:off x="3447288" y="5029200"/>
            <a:ext cx="73152" cy="1234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9" name="Text 24"/>
          <p:cNvSpPr/>
          <p:nvPr/>
        </p:nvSpPr>
        <p:spPr>
          <a:xfrm>
            <a:off x="3648456" y="5175504"/>
            <a:ext cx="2386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≥ 0.92</a:t>
            </a:r>
            <a:endParaRPr lang="en-US" sz="3000" dirty="0"/>
          </a:p>
        </p:txBody>
      </p:sp>
      <p:sp>
        <p:nvSpPr>
          <p:cNvPr id="30" name="Text 25"/>
          <p:cNvSpPr/>
          <p:nvPr/>
        </p:nvSpPr>
        <p:spPr>
          <a:xfrm>
            <a:off x="3648456" y="5779008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field F1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6345936" y="5029200"/>
            <a:ext cx="2697480" cy="12344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" name="Shape 27"/>
          <p:cNvSpPr/>
          <p:nvPr/>
        </p:nvSpPr>
        <p:spPr>
          <a:xfrm>
            <a:off x="6345936" y="5029200"/>
            <a:ext cx="73152" cy="1234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3" name="Text 28"/>
          <p:cNvSpPr/>
          <p:nvPr/>
        </p:nvSpPr>
        <p:spPr>
          <a:xfrm>
            <a:off x="6547104" y="5175504"/>
            <a:ext cx="2386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Hours</a:t>
            </a:r>
            <a:endParaRPr lang="en-US" sz="3000" dirty="0"/>
          </a:p>
        </p:txBody>
      </p:sp>
      <p:sp>
        <p:nvSpPr>
          <p:cNvPr id="34" name="Text 29"/>
          <p:cNvSpPr/>
          <p:nvPr/>
        </p:nvSpPr>
        <p:spPr>
          <a:xfrm>
            <a:off x="6547104" y="5779008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onboard a new doc type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9244584" y="5029200"/>
            <a:ext cx="2697480" cy="12344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6" name="Shape 31"/>
          <p:cNvSpPr/>
          <p:nvPr/>
        </p:nvSpPr>
        <p:spPr>
          <a:xfrm>
            <a:off x="9244584" y="5029200"/>
            <a:ext cx="73152" cy="1234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7" name="Text 32"/>
          <p:cNvSpPr/>
          <p:nvPr/>
        </p:nvSpPr>
        <p:spPr>
          <a:xfrm>
            <a:off x="9445752" y="5175504"/>
            <a:ext cx="2386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3000" dirty="0"/>
          </a:p>
        </p:txBody>
      </p:sp>
      <p:sp>
        <p:nvSpPr>
          <p:cNvPr id="38" name="Text 33"/>
          <p:cNvSpPr/>
          <p:nvPr/>
        </p:nvSpPr>
        <p:spPr>
          <a:xfrm>
            <a:off x="9445752" y="5779008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audited to SOR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STATE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SLV Multi-Agent Flow — End-to-End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ID in → verified decision and audit record out, orchestrated across six configurable agent stages.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60477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B1A33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81328"/>
            <a:ext cx="1604772" cy="475488"/>
          </a:xfrm>
          <a:prstGeom prst="rect">
            <a:avLst/>
          </a:prstGeom>
          <a:solidFill>
            <a:srgbClr val="2E5A8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59105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23544" y="1481328"/>
            <a:ext cx="11475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Loan Intake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30936" y="2029968"/>
            <a:ext cx="136702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+ Data Collection agents route the loan and fetch account &amp; document details from ECAR / DB.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144268" y="2418588"/>
            <a:ext cx="237744" cy="0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418588" y="1481328"/>
            <a:ext cx="160477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B1A33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18588" y="1481328"/>
            <a:ext cx="1604772" cy="475488"/>
          </a:xfrm>
          <a:prstGeom prst="rect">
            <a:avLst/>
          </a:prstGeom>
          <a:solidFill>
            <a:srgbClr val="2C7A3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316" y="1591056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39212" y="1481328"/>
            <a:ext cx="11475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· Doc Extraction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2546604" y="2029968"/>
            <a:ext cx="136702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 AI pipeline runs bulk document extraction by BatchID; gate checks required docs &amp; mandatory fields.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059936" y="2418588"/>
            <a:ext cx="237744" cy="0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4334256" y="1481328"/>
            <a:ext cx="160477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B1A33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334256" y="1481328"/>
            <a:ext cx="1604772" cy="475488"/>
          </a:xfrm>
          <a:prstGeom prst="rect">
            <a:avLst/>
          </a:prstGeom>
          <a:solidFill>
            <a:srgbClr val="0E7C7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1591056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54880" y="1481328"/>
            <a:ext cx="11475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· Async Retrieval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462272" y="2029968"/>
            <a:ext cx="136702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consumer polls ECM for completion, retrieves extraction results via API, stores them in O2A DB.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5975604" y="2418588"/>
            <a:ext cx="237744" cy="0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6249924" y="1481328"/>
            <a:ext cx="160477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B1A33">
                <a:alpha val="13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249924" y="1481328"/>
            <a:ext cx="1604772" cy="475488"/>
          </a:xfrm>
          <a:prstGeom prst="rect">
            <a:avLst/>
          </a:prstGeom>
          <a:solidFill>
            <a:srgbClr val="B91C1C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9652" y="1591056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670548" y="1481328"/>
            <a:ext cx="11475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· Validation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6377940" y="2029968"/>
            <a:ext cx="136702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agent compares ECAR + extracted data against SLV business rules (criteria comparison).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7891272" y="2418588"/>
            <a:ext cx="237744" cy="0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9" name="Shape 23"/>
          <p:cNvSpPr/>
          <p:nvPr/>
        </p:nvSpPr>
        <p:spPr>
          <a:xfrm>
            <a:off x="8165592" y="1481328"/>
            <a:ext cx="160477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B1A33">
                <a:alpha val="13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8165592" y="1481328"/>
            <a:ext cx="1604772" cy="475488"/>
          </a:xfrm>
          <a:prstGeom prst="rect">
            <a:avLst/>
          </a:prstGeom>
          <a:solidFill>
            <a:srgbClr val="6D28D9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1591056"/>
            <a:ext cx="256032" cy="25603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586216" y="1481328"/>
            <a:ext cx="11475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· Verdict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8293608" y="2029968"/>
            <a:ext cx="136702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agent synthesizes &amp; summarizes the result and renders the JSON outcome to the Operator UI.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9806940" y="2418588"/>
            <a:ext cx="237744" cy="0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5" name="Shape 28"/>
          <p:cNvSpPr/>
          <p:nvPr/>
        </p:nvSpPr>
        <p:spPr>
          <a:xfrm>
            <a:off x="10081260" y="1481328"/>
            <a:ext cx="160477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B1A33">
                <a:alpha val="13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10081260" y="1481328"/>
            <a:ext cx="1604772" cy="475488"/>
          </a:xfrm>
          <a:prstGeom prst="rect">
            <a:avLst/>
          </a:prstGeom>
          <a:solidFill>
            <a:srgbClr val="C2410C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0988" y="1591056"/>
            <a:ext cx="256032" cy="25603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0501884" y="1481328"/>
            <a:ext cx="11475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· SOR Update</a:t>
            </a:r>
            <a:endParaRPr lang="en-US" sz="1050" dirty="0"/>
          </a:p>
        </p:txBody>
      </p:sp>
      <p:sp>
        <p:nvSpPr>
          <p:cNvPr id="39" name="Text 31"/>
          <p:cNvSpPr/>
          <p:nvPr/>
        </p:nvSpPr>
        <p:spPr>
          <a:xfrm>
            <a:off x="10209276" y="2029968"/>
            <a:ext cx="136702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 agent writes the verified decision to the System of Record with a full audit trail at completion.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5029200" y="3986784"/>
            <a:ext cx="2103120" cy="713232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41" name="Shape 33"/>
          <p:cNvSpPr/>
          <p:nvPr/>
        </p:nvSpPr>
        <p:spPr>
          <a:xfrm>
            <a:off x="5029200" y="3886200"/>
            <a:ext cx="2103120" cy="201168"/>
          </a:xfrm>
          <a:prstGeom prst="ellipse">
            <a:avLst/>
          </a:prstGeom>
          <a:solidFill>
            <a:srgbClr val="13294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5029200" y="4599432"/>
            <a:ext cx="2103120" cy="201168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6168" y="4087368"/>
            <a:ext cx="329184" cy="329184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4572000" y="4453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O2A DB · PostgreSQL</a:t>
            </a:r>
            <a:endParaRPr lang="en-US" sz="1050" dirty="0"/>
          </a:p>
        </p:txBody>
      </p:sp>
      <p:sp>
        <p:nvSpPr>
          <p:cNvPr id="45" name="Shape 36"/>
          <p:cNvSpPr/>
          <p:nvPr/>
        </p:nvSpPr>
        <p:spPr>
          <a:xfrm>
            <a:off x="3220974" y="3355848"/>
            <a:ext cx="0" cy="256032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46" name="Shape 37"/>
          <p:cNvSpPr/>
          <p:nvPr/>
        </p:nvSpPr>
        <p:spPr>
          <a:xfrm>
            <a:off x="5136642" y="3355848"/>
            <a:ext cx="0" cy="256032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47" name="Shape 38"/>
          <p:cNvSpPr/>
          <p:nvPr/>
        </p:nvSpPr>
        <p:spPr>
          <a:xfrm>
            <a:off x="7052310" y="3355848"/>
            <a:ext cx="0" cy="256032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48" name="Shape 39"/>
          <p:cNvSpPr/>
          <p:nvPr/>
        </p:nvSpPr>
        <p:spPr>
          <a:xfrm>
            <a:off x="8967978" y="3355848"/>
            <a:ext cx="0" cy="256032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49" name="Shape 40"/>
          <p:cNvSpPr/>
          <p:nvPr/>
        </p:nvSpPr>
        <p:spPr>
          <a:xfrm>
            <a:off x="2011680" y="3611880"/>
            <a:ext cx="3017520" cy="548640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50" name="Shape 41"/>
          <p:cNvSpPr/>
          <p:nvPr/>
        </p:nvSpPr>
        <p:spPr>
          <a:xfrm flipH="1">
            <a:off x="7132320" y="3611880"/>
            <a:ext cx="2834640" cy="548640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51" name="Text 42"/>
          <p:cNvSpPr/>
          <p:nvPr/>
        </p:nvSpPr>
        <p:spPr>
          <a:xfrm>
            <a:off x="3931920" y="483717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 · every stage reads/writes the O2A store</a:t>
            </a:r>
            <a:endParaRPr lang="en-US" sz="900" dirty="0"/>
          </a:p>
        </p:txBody>
      </p:sp>
      <p:sp>
        <p:nvSpPr>
          <p:cNvPr id="52" name="Shape 43"/>
          <p:cNvSpPr/>
          <p:nvPr/>
        </p:nvSpPr>
        <p:spPr>
          <a:xfrm>
            <a:off x="502920" y="5285232"/>
            <a:ext cx="11183112" cy="10789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Shape 44"/>
          <p:cNvSpPr/>
          <p:nvPr/>
        </p:nvSpPr>
        <p:spPr>
          <a:xfrm>
            <a:off x="502920" y="5285232"/>
            <a:ext cx="91440" cy="1078992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54" name="Shape 45"/>
          <p:cNvSpPr/>
          <p:nvPr/>
        </p:nvSpPr>
        <p:spPr>
          <a:xfrm>
            <a:off x="795528" y="5532120"/>
            <a:ext cx="585216" cy="585216"/>
          </a:xfrm>
          <a:prstGeom prst="ellipse">
            <a:avLst/>
          </a:prstGeom>
          <a:solidFill>
            <a:srgbClr val="475569"/>
          </a:solidFill>
          <a:ln/>
          <a:effectLst>
            <a:outerShdw sx="100000" sy="100000" kx="0" ky="0" algn="bl" rotWithShape="0" blurRad="63500" dist="25400" dir="8100000">
              <a:srgbClr val="0B1A33">
                <a:alpha val="18000"/>
              </a:srgbClr>
            </a:outerShdw>
          </a:effectLst>
        </p:spPr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3536" y="5690128"/>
            <a:ext cx="269199" cy="269199"/>
          </a:xfrm>
          <a:prstGeom prst="rect">
            <a:avLst/>
          </a:prstGeom>
        </p:spPr>
      </p:pic>
      <p:sp>
        <p:nvSpPr>
          <p:cNvPr id="56" name="Text 46"/>
          <p:cNvSpPr/>
          <p:nvPr/>
        </p:nvSpPr>
        <p:spPr>
          <a:xfrm>
            <a:off x="1600200" y="5431536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Human-in-the-Loop — exception &amp; control lane</a:t>
            </a:r>
            <a:endParaRPr lang="en-US" sz="1400" dirty="0"/>
          </a:p>
        </p:txBody>
      </p:sp>
      <p:sp>
        <p:nvSpPr>
          <p:cNvPr id="57" name="Text 47"/>
          <p:cNvSpPr/>
          <p:nvPr/>
        </p:nvSpPr>
        <p:spPr>
          <a:xfrm>
            <a:off x="1600200" y="5760720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documents or mandatory-field failures escalate for review. Operators also review staged SOR data before sync, then Approve · Reject · Escalate — keeping a person accountable for every non-routine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 FLOW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CSBBO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Agent-driven intake and ECM ingestion feeding the customer-processing pipeline, with a customer-match decision point.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4264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INTAKE &amp; INGESTION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719072"/>
            <a:ext cx="1554480" cy="713232"/>
          </a:xfrm>
          <a:prstGeom prst="rect">
            <a:avLst/>
          </a:prstGeom>
          <a:solidFill>
            <a:srgbClr val="475569"/>
          </a:solidFill>
          <a:ln/>
          <a:effectLst>
            <a:outerShdw sx="100000" sy="100000" kx="0" ky="0" algn="bl" rotWithShape="0" blurRad="88900" dist="25400" dir="8100000">
              <a:srgbClr val="0B1A33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865376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18288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697480" y="1719072"/>
            <a:ext cx="1783080" cy="713232"/>
          </a:xfrm>
          <a:prstGeom prst="rect">
            <a:avLst/>
          </a:prstGeom>
          <a:solidFill>
            <a:srgbClr val="0E7C7B"/>
          </a:solidFill>
          <a:ln/>
          <a:effectLst>
            <a:outerShdw sx="100000" sy="100000" kx="0" ky="0" algn="bl" rotWithShape="0" blurRad="88900" dist="25400" dir="8100000">
              <a:srgbClr val="0B1A33">
                <a:alpha val="1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784" y="186537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27832" y="18288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iDocs O2A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074920" y="1726204"/>
            <a:ext cx="1737360" cy="698967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3" name="Shape 9"/>
          <p:cNvSpPr/>
          <p:nvPr/>
        </p:nvSpPr>
        <p:spPr>
          <a:xfrm>
            <a:off x="5074920" y="1627632"/>
            <a:ext cx="1737360" cy="197145"/>
          </a:xfrm>
          <a:prstGeom prst="ellipse">
            <a:avLst/>
          </a:prstGeom>
          <a:solidFill>
            <a:srgbClr val="4755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074920" y="2326599"/>
            <a:ext cx="1737360" cy="197145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764792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00600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Repository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2121408" y="2075688"/>
            <a:ext cx="557784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4498848" y="2075688"/>
            <a:ext cx="557784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2743200" y="2578608"/>
            <a:ext cx="1691640" cy="603504"/>
          </a:xfrm>
          <a:prstGeom prst="hexagon">
            <a:avLst/>
          </a:prstGeom>
          <a:solidFill>
            <a:srgbClr val="B91C1C"/>
          </a:solidFill>
          <a:ln/>
          <a:effectLst>
            <a:outerShdw sx="100000" sy="100000" kx="0" ky="0" algn="bl" rotWithShape="0" blurRad="63500" dist="25400" dir="8100000">
              <a:srgbClr val="0B1A33">
                <a:alpha val="14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2743200" y="2578608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work package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3589020" y="2432304"/>
            <a:ext cx="0" cy="14630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2743200" y="3328416"/>
            <a:ext cx="1691640" cy="603504"/>
          </a:xfrm>
          <a:prstGeom prst="rect">
            <a:avLst/>
          </a:prstGeom>
          <a:solidFill>
            <a:srgbClr val="2E5A8C"/>
          </a:solidFill>
          <a:ln/>
          <a:effectLst>
            <a:outerShdw sx="100000" sy="100000" kx="0" ky="0" algn="bl" rotWithShape="0" blurRad="88900" dist="25400" dir="8100000">
              <a:srgbClr val="0B1A33">
                <a:alpha val="16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9504" y="3474720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273552" y="343814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Message Consumer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3589020" y="3182112"/>
            <a:ext cx="0" cy="14630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640080" y="3356031"/>
            <a:ext cx="1463040" cy="58485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27" name="Shape 21"/>
          <p:cNvSpPr/>
          <p:nvPr/>
        </p:nvSpPr>
        <p:spPr>
          <a:xfrm>
            <a:off x="640080" y="3273552"/>
            <a:ext cx="1463040" cy="164958"/>
          </a:xfrm>
          <a:prstGeom prst="ellipse">
            <a:avLst/>
          </a:prstGeom>
          <a:solidFill>
            <a:srgbClr val="13294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40080" y="3858402"/>
            <a:ext cx="1463040" cy="164958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3410712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65760" y="37124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O2A Database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 flipH="1">
            <a:off x="2121408" y="3630168"/>
            <a:ext cx="603504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dash"/>
            <a:tailEnd type="triangle"/>
          </a:ln>
        </p:spPr>
      </p:sp>
      <p:sp>
        <p:nvSpPr>
          <p:cNvPr id="32" name="Text 25"/>
          <p:cNvSpPr/>
          <p:nvPr/>
        </p:nvSpPr>
        <p:spPr>
          <a:xfrm>
            <a:off x="2103120" y="33924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docs</a:t>
            </a:r>
            <a:endParaRPr lang="en-US" sz="700" dirty="0"/>
          </a:p>
        </p:txBody>
      </p:sp>
      <p:sp>
        <p:nvSpPr>
          <p:cNvPr id="33" name="Shape 26"/>
          <p:cNvSpPr/>
          <p:nvPr/>
        </p:nvSpPr>
        <p:spPr>
          <a:xfrm>
            <a:off x="4572000" y="3328416"/>
            <a:ext cx="1600200" cy="603504"/>
          </a:xfrm>
          <a:prstGeom prst="rect">
            <a:avLst/>
          </a:prstGeom>
          <a:solidFill>
            <a:srgbClr val="2E5A8C"/>
          </a:solidFill>
          <a:ln/>
          <a:effectLst>
            <a:outerShdw sx="100000" sy="100000" kx="0" ky="0" algn="bl" rotWithShape="0" blurRad="88900" dist="25400" dir="8100000">
              <a:srgbClr val="0B1A33">
                <a:alpha val="16000"/>
              </a:srgbClr>
            </a:outerShdw>
          </a:effectLst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8304" y="3474720"/>
            <a:ext cx="310896" cy="31089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102352" y="343814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ECM / ECAR</a:t>
            </a:r>
            <a:endParaRPr lang="en-US" sz="1250" dirty="0"/>
          </a:p>
        </p:txBody>
      </p:sp>
      <p:sp>
        <p:nvSpPr>
          <p:cNvPr id="36" name="Shape 28"/>
          <p:cNvSpPr/>
          <p:nvPr/>
        </p:nvSpPr>
        <p:spPr>
          <a:xfrm>
            <a:off x="4453128" y="3630168"/>
            <a:ext cx="100584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7" name="Text 29"/>
          <p:cNvSpPr/>
          <p:nvPr/>
        </p:nvSpPr>
        <p:spPr>
          <a:xfrm>
            <a:off x="548640" y="4187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PROCESSING PIPELINE</a:t>
            </a:r>
            <a:endParaRPr lang="en-US" sz="1050" dirty="0"/>
          </a:p>
        </p:txBody>
      </p:sp>
      <p:sp>
        <p:nvSpPr>
          <p:cNvPr id="38" name="Shape 30"/>
          <p:cNvSpPr/>
          <p:nvPr/>
        </p:nvSpPr>
        <p:spPr>
          <a:xfrm>
            <a:off x="548640" y="4480560"/>
            <a:ext cx="1371600" cy="914400"/>
          </a:xfrm>
          <a:prstGeom prst="rect">
            <a:avLst/>
          </a:prstGeom>
          <a:solidFill>
            <a:srgbClr val="475569"/>
          </a:solidFill>
          <a:ln/>
          <a:effectLst>
            <a:outerShdw sx="100000" sy="100000" kx="0" ky="0" algn="bl" rotWithShape="0" blurRad="63500" dist="25400" dir="8100000">
              <a:srgbClr val="0B1A33">
                <a:alpha val="14000"/>
              </a:srgbClr>
            </a:outerShdw>
          </a:effectLst>
        </p:spPr>
      </p:sp>
      <p:sp>
        <p:nvSpPr>
          <p:cNvPr id="39" name="Text 31"/>
          <p:cNvSpPr/>
          <p:nvPr/>
        </p:nvSpPr>
        <p:spPr>
          <a:xfrm>
            <a:off x="621792" y="4480560"/>
            <a:ext cx="1225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Scan</a:t>
            </a:r>
            <a:endParaRPr lang="en-US" sz="9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(Start)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2066544" y="4480560"/>
            <a:ext cx="1417320" cy="914400"/>
          </a:xfrm>
          <a:prstGeom prst="rect">
            <a:avLst/>
          </a:prstGeom>
          <a:solidFill>
            <a:srgbClr val="2E5A8C"/>
          </a:solidFill>
          <a:ln/>
          <a:effectLst>
            <a:outerShdw sx="100000" sy="100000" kx="0" ky="0" algn="bl" rotWithShape="0" blurRad="63500" dist="25400" dir="8100000">
              <a:srgbClr val="0B1A33">
                <a:alpha val="14000"/>
              </a:srgbClr>
            </a:outerShdw>
          </a:effectLst>
        </p:spPr>
      </p:sp>
      <p:sp>
        <p:nvSpPr>
          <p:cNvPr id="41" name="Text 33"/>
          <p:cNvSpPr/>
          <p:nvPr/>
        </p:nvSpPr>
        <p:spPr>
          <a:xfrm>
            <a:off x="2139696" y="4480560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Data</a:t>
            </a:r>
            <a:endParaRPr lang="en-US" sz="9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Documents</a:t>
            </a:r>
            <a:endParaRPr lang="en-US" sz="950" dirty="0"/>
          </a:p>
        </p:txBody>
      </p:sp>
      <p:sp>
        <p:nvSpPr>
          <p:cNvPr id="42" name="Shape 34"/>
          <p:cNvSpPr/>
          <p:nvPr/>
        </p:nvSpPr>
        <p:spPr>
          <a:xfrm>
            <a:off x="3630168" y="4480560"/>
            <a:ext cx="1508760" cy="914400"/>
          </a:xfrm>
          <a:prstGeom prst="rect">
            <a:avLst/>
          </a:prstGeom>
          <a:solidFill>
            <a:srgbClr val="2E5A8C"/>
          </a:solidFill>
          <a:ln/>
          <a:effectLst>
            <a:outerShdw sx="100000" sy="100000" kx="0" ky="0" algn="bl" rotWithShape="0" blurRad="63500" dist="25400" dir="8100000">
              <a:srgbClr val="0B1A33">
                <a:alpha val="14000"/>
              </a:srgbClr>
            </a:outerShdw>
          </a:effectLst>
        </p:spPr>
      </p:sp>
      <p:sp>
        <p:nvSpPr>
          <p:cNvPr id="43" name="Text 35"/>
          <p:cNvSpPr/>
          <p:nvPr/>
        </p:nvSpPr>
        <p:spPr>
          <a:xfrm>
            <a:off x="3703320" y="4480560"/>
            <a:ext cx="1362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Required</a:t>
            </a:r>
            <a:endParaRPr lang="en-US" sz="9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950" dirty="0"/>
          </a:p>
        </p:txBody>
      </p:sp>
      <p:sp>
        <p:nvSpPr>
          <p:cNvPr id="44" name="Shape 36"/>
          <p:cNvSpPr/>
          <p:nvPr/>
        </p:nvSpPr>
        <p:spPr>
          <a:xfrm>
            <a:off x="5285232" y="4480560"/>
            <a:ext cx="1554480" cy="914400"/>
          </a:xfrm>
          <a:prstGeom prst="rect">
            <a:avLst/>
          </a:prstGeom>
          <a:solidFill>
            <a:srgbClr val="2E5A8C"/>
          </a:solidFill>
          <a:ln/>
          <a:effectLst>
            <a:outerShdw sx="100000" sy="100000" kx="0" ky="0" algn="bl" rotWithShape="0" blurRad="63500" dist="25400" dir="8100000">
              <a:srgbClr val="0B1A33">
                <a:alpha val="14000"/>
              </a:srgbClr>
            </a:outerShdw>
          </a:effectLst>
        </p:spPr>
      </p:sp>
      <p:sp>
        <p:nvSpPr>
          <p:cNvPr id="45" name="Text 37"/>
          <p:cNvSpPr/>
          <p:nvPr/>
        </p:nvSpPr>
        <p:spPr>
          <a:xfrm>
            <a:off x="5358384" y="448056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Lookup</a:t>
            </a:r>
            <a:endParaRPr lang="en-US" sz="9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(name · SSN · phone)</a:t>
            </a:r>
            <a:endParaRPr lang="en-US" sz="950" dirty="0"/>
          </a:p>
        </p:txBody>
      </p:sp>
      <p:sp>
        <p:nvSpPr>
          <p:cNvPr id="46" name="Shape 38"/>
          <p:cNvSpPr/>
          <p:nvPr/>
        </p:nvSpPr>
        <p:spPr>
          <a:xfrm>
            <a:off x="6986016" y="4389120"/>
            <a:ext cx="1051560" cy="1097280"/>
          </a:xfrm>
          <a:prstGeom prst="diamond">
            <a:avLst/>
          </a:prstGeom>
          <a:solidFill>
            <a:srgbClr val="D97706"/>
          </a:solidFill>
          <a:ln/>
          <a:effectLst>
            <a:outerShdw sx="100000" sy="100000" kx="0" ky="0" algn="bl" rotWithShape="0" blurRad="76200" dist="25400" dir="8100000">
              <a:srgbClr val="0B1A33">
                <a:alpha val="16000"/>
              </a:srgbClr>
            </a:outerShdw>
          </a:effectLst>
        </p:spPr>
      </p:sp>
      <p:sp>
        <p:nvSpPr>
          <p:cNvPr id="47" name="Text 39"/>
          <p:cNvSpPr/>
          <p:nvPr/>
        </p:nvSpPr>
        <p:spPr>
          <a:xfrm>
            <a:off x="6986016" y="4389120"/>
            <a:ext cx="1051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found?</a:t>
            </a:r>
            <a:endParaRPr lang="en-US" sz="850" dirty="0"/>
          </a:p>
        </p:txBody>
      </p:sp>
      <p:sp>
        <p:nvSpPr>
          <p:cNvPr id="48" name="Shape 40"/>
          <p:cNvSpPr/>
          <p:nvPr/>
        </p:nvSpPr>
        <p:spPr>
          <a:xfrm>
            <a:off x="8183880" y="4480560"/>
            <a:ext cx="1417320" cy="914400"/>
          </a:xfrm>
          <a:prstGeom prst="rect">
            <a:avLst/>
          </a:prstGeom>
          <a:solidFill>
            <a:srgbClr val="6D28D9"/>
          </a:solidFill>
          <a:ln/>
          <a:effectLst>
            <a:outerShdw sx="100000" sy="100000" kx="0" ky="0" algn="bl" rotWithShape="0" blurRad="63500" dist="25400" dir="8100000">
              <a:srgbClr val="0B1A33">
                <a:alpha val="14000"/>
              </a:srgbClr>
            </a:outerShdw>
          </a:effectLst>
        </p:spPr>
      </p:sp>
      <p:sp>
        <p:nvSpPr>
          <p:cNvPr id="49" name="Text 41"/>
          <p:cNvSpPr/>
          <p:nvPr/>
        </p:nvSpPr>
        <p:spPr>
          <a:xfrm>
            <a:off x="8257032" y="4480560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/ Compare</a:t>
            </a:r>
            <a:endParaRPr lang="en-US" sz="9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950" dirty="0"/>
          </a:p>
        </p:txBody>
      </p:sp>
      <p:sp>
        <p:nvSpPr>
          <p:cNvPr id="50" name="Shape 42"/>
          <p:cNvSpPr/>
          <p:nvPr/>
        </p:nvSpPr>
        <p:spPr>
          <a:xfrm>
            <a:off x="9747504" y="4480560"/>
            <a:ext cx="1554480" cy="914400"/>
          </a:xfrm>
          <a:prstGeom prst="rect">
            <a:avLst/>
          </a:prstGeom>
          <a:solidFill>
            <a:srgbClr val="C2410C"/>
          </a:solidFill>
          <a:ln/>
          <a:effectLst>
            <a:outerShdw sx="100000" sy="100000" kx="0" ky="0" algn="bl" rotWithShape="0" blurRad="63500" dist="25400" dir="8100000">
              <a:srgbClr val="0B1A33">
                <a:alpha val="14000"/>
              </a:srgbClr>
            </a:outerShdw>
          </a:effectLst>
        </p:spPr>
      </p:sp>
      <p:sp>
        <p:nvSpPr>
          <p:cNvPr id="51" name="Text 43"/>
          <p:cNvSpPr/>
          <p:nvPr/>
        </p:nvSpPr>
        <p:spPr>
          <a:xfrm>
            <a:off x="9820656" y="448056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&amp;</a:t>
            </a:r>
            <a:endParaRPr lang="en-US" sz="9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SOR</a:t>
            </a:r>
            <a:endParaRPr lang="en-US" sz="950" dirty="0"/>
          </a:p>
        </p:txBody>
      </p:sp>
      <p:sp>
        <p:nvSpPr>
          <p:cNvPr id="52" name="Shape 44"/>
          <p:cNvSpPr/>
          <p:nvPr/>
        </p:nvSpPr>
        <p:spPr>
          <a:xfrm>
            <a:off x="1938528" y="4937760"/>
            <a:ext cx="10972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3" name="Shape 45"/>
          <p:cNvSpPr/>
          <p:nvPr/>
        </p:nvSpPr>
        <p:spPr>
          <a:xfrm>
            <a:off x="3502152" y="4937760"/>
            <a:ext cx="10972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4" name="Shape 46"/>
          <p:cNvSpPr/>
          <p:nvPr/>
        </p:nvSpPr>
        <p:spPr>
          <a:xfrm>
            <a:off x="5157216" y="4937760"/>
            <a:ext cx="10972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5" name="Shape 47"/>
          <p:cNvSpPr/>
          <p:nvPr/>
        </p:nvSpPr>
        <p:spPr>
          <a:xfrm>
            <a:off x="6858000" y="4937760"/>
            <a:ext cx="10972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6" name="Shape 48"/>
          <p:cNvSpPr/>
          <p:nvPr/>
        </p:nvSpPr>
        <p:spPr>
          <a:xfrm>
            <a:off x="8055864" y="4937760"/>
            <a:ext cx="109728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57" name="Shape 49"/>
          <p:cNvSpPr/>
          <p:nvPr/>
        </p:nvSpPr>
        <p:spPr>
          <a:xfrm>
            <a:off x="9619488" y="4937760"/>
            <a:ext cx="10972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8" name="Text 50"/>
          <p:cNvSpPr/>
          <p:nvPr/>
        </p:nvSpPr>
        <p:spPr>
          <a:xfrm>
            <a:off x="8037576" y="462686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Yes</a:t>
            </a:r>
            <a:endParaRPr lang="en-US" sz="850" dirty="0"/>
          </a:p>
        </p:txBody>
      </p:sp>
      <p:sp>
        <p:nvSpPr>
          <p:cNvPr id="59" name="Shape 51"/>
          <p:cNvSpPr/>
          <p:nvPr/>
        </p:nvSpPr>
        <p:spPr>
          <a:xfrm>
            <a:off x="7511796" y="5486400"/>
            <a:ext cx="0" cy="45720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60" name="Shape 52"/>
          <p:cNvSpPr/>
          <p:nvPr/>
        </p:nvSpPr>
        <p:spPr>
          <a:xfrm>
            <a:off x="2775204" y="5943600"/>
            <a:ext cx="4736592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61" name="Shape 53"/>
          <p:cNvSpPr/>
          <p:nvPr/>
        </p:nvSpPr>
        <p:spPr>
          <a:xfrm flipV="1">
            <a:off x="2775204" y="5413248"/>
            <a:ext cx="0" cy="530352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62" name="Text 54"/>
          <p:cNvSpPr/>
          <p:nvPr/>
        </p:nvSpPr>
        <p:spPr>
          <a:xfrm>
            <a:off x="3291840" y="56509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 ·  not found → manual review</a:t>
            </a:r>
            <a:endParaRPr lang="en-US" sz="900" dirty="0"/>
          </a:p>
        </p:txBody>
      </p:sp>
      <p:sp>
        <p:nvSpPr>
          <p:cNvPr id="63" name="Shape 55"/>
          <p:cNvSpPr/>
          <p:nvPr/>
        </p:nvSpPr>
        <p:spPr>
          <a:xfrm>
            <a:off x="1325880" y="4023360"/>
            <a:ext cx="0" cy="438912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64" name="Text 56"/>
          <p:cNvSpPr/>
          <p:nvPr/>
        </p:nvSpPr>
        <p:spPr>
          <a:xfrm>
            <a:off x="548640" y="64373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restyled to template from the source image; several step labels were not legible — please confirm before sharing externally.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BATCH PROCESSING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Scheduled, Self-Healing Pipeline —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Unattended runs on a cron schedule, sourced from the SOR DB, with automatic retry and dead-letter escalation.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148840" cy="1234440"/>
          </a:xfrm>
          <a:prstGeom prst="rect">
            <a:avLst/>
          </a:prstGeom>
          <a:solidFill>
            <a:srgbClr val="475569"/>
          </a:solidFill>
          <a:ln/>
          <a:effectLst>
            <a:outerShdw sx="100000" sy="100000" kx="0" ky="0" algn="bl" rotWithShape="0" blurRad="88900" dist="25400" dir="8100000">
              <a:srgbClr val="0B1A33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746504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170992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Cron Scheduler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94944" y="2130552"/>
            <a:ext cx="1874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each run on schedule (nightly / hourly).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063240" y="1600200"/>
            <a:ext cx="2148840" cy="1234440"/>
          </a:xfrm>
          <a:prstGeom prst="rect">
            <a:avLst/>
          </a:prstGeom>
          <a:solidFill>
            <a:srgbClr val="2E5A8C"/>
          </a:solidFill>
          <a:ln/>
          <a:effectLst>
            <a:outerShdw sx="100000" sy="100000" kx="0" ky="0" algn="bl" rotWithShape="0" blurRad="88900" dist="25400" dir="8100000">
              <a:srgbClr val="0B1A33">
                <a:alpha val="1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544" y="1746504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93592" y="170992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SOR DB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3209544" y="2130552"/>
            <a:ext cx="1874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pending Loan IDs (NEW / RE-REVIEW).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577840" y="1600200"/>
            <a:ext cx="2331720" cy="1234440"/>
          </a:xfrm>
          <a:prstGeom prst="rect">
            <a:avLst/>
          </a:prstGeom>
          <a:solidFill>
            <a:srgbClr val="0E7C7B"/>
          </a:solidFill>
          <a:ln/>
          <a:effectLst>
            <a:outerShdw sx="100000" sy="100000" kx="0" ky="0" algn="bl" rotWithShape="0" blurRad="88900" dist="25400" dir="8100000">
              <a:srgbClr val="0B1A33">
                <a:alpha val="16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44" y="1746504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08192" y="17099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Batch Orchestrator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5724144" y="2130552"/>
            <a:ext cx="2057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loans to the SLV pipeline — config-driven, parallel.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8275320" y="1600200"/>
            <a:ext cx="2331720" cy="1234440"/>
          </a:xfrm>
          <a:prstGeom prst="rect">
            <a:avLst/>
          </a:prstGeom>
          <a:solidFill>
            <a:srgbClr val="6D28D9"/>
          </a:solidFill>
          <a:ln/>
          <a:effectLst>
            <a:outerShdw sx="100000" sy="100000" kx="0" ky="0" algn="bl" rotWithShape="0" blurRad="88900" dist="25400" dir="8100000">
              <a:srgbClr val="0B1A33">
                <a:alpha val="16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1746504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805672" y="17099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SLV Agent Pipeline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8421624" y="2130552"/>
            <a:ext cx="2057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6-stage SLV flow per loan.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2697480" y="2217420"/>
            <a:ext cx="365760" cy="0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Shape 16"/>
          <p:cNvSpPr/>
          <p:nvPr/>
        </p:nvSpPr>
        <p:spPr>
          <a:xfrm>
            <a:off x="5212080" y="2217420"/>
            <a:ext cx="365760" cy="0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7909560" y="2217420"/>
            <a:ext cx="365760" cy="0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10584180" y="1508760"/>
            <a:ext cx="1417320" cy="1417320"/>
          </a:xfrm>
          <a:prstGeom prst="diamond">
            <a:avLst/>
          </a:prstGeom>
          <a:solidFill>
            <a:srgbClr val="D97706"/>
          </a:solidFill>
          <a:ln/>
          <a:effectLst>
            <a:outerShdw sx="100000" sy="100000" kx="0" ky="0" algn="bl" rotWithShape="0" blurRad="88900" dist="25400" dir="8100000">
              <a:srgbClr val="0B1A33">
                <a:alpha val="18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10584180" y="150876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Outcome?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 flipH="1">
            <a:off x="10565892" y="2217420"/>
            <a:ext cx="41148" cy="0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9052560" y="4160520"/>
            <a:ext cx="2697480" cy="132588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88900" dist="25400" dir="8100000">
              <a:srgbClr val="0B1A33">
                <a:alpha val="16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4" y="4306824"/>
            <a:ext cx="310896" cy="31089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582912" y="427024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 SOR + Write Audit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9198864" y="4690872"/>
            <a:ext cx="2423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decision committed to the System of Record with full audit trail.  → END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4846320" y="4160520"/>
            <a:ext cx="2743200" cy="132588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88900" dist="25400" dir="8100000">
              <a:srgbClr val="0B1A33">
                <a:alpha val="16000"/>
              </a:srgbClr>
            </a:outerShdw>
          </a:effectLst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2624" y="4306824"/>
            <a:ext cx="310896" cy="31089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376672" y="427024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Retry Handler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4992624" y="4690872"/>
            <a:ext cx="24688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 · max N attempts · per-failure isolation. Re-dispatches the failed loan.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548640" y="4160520"/>
            <a:ext cx="2743200" cy="1325880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88900" dist="25400" dir="8100000">
              <a:srgbClr val="0B1A33">
                <a:alpha val="16000"/>
              </a:srgbClr>
            </a:outerShdw>
          </a:effectLst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" y="4306824"/>
            <a:ext cx="310896" cy="31089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078992" y="427024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Dead-Letter → HITL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694944" y="4690872"/>
            <a:ext cx="24688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 exhausted → quarantine the loan and escalate to Human-in-the-Loop.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11292840" y="2926080"/>
            <a:ext cx="0" cy="941832"/>
          </a:xfrm>
          <a:prstGeom prst="line">
            <a:avLst/>
          </a:prstGeom>
          <a:noFill/>
          <a:ln w="28575">
            <a:solidFill>
              <a:srgbClr val="16A34A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 flipH="1">
            <a:off x="10405872" y="3867912"/>
            <a:ext cx="886968" cy="0"/>
          </a:xfrm>
          <a:prstGeom prst="line">
            <a:avLst/>
          </a:prstGeom>
          <a:noFill/>
          <a:ln w="28575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41" name="Shape 32"/>
          <p:cNvSpPr/>
          <p:nvPr/>
        </p:nvSpPr>
        <p:spPr>
          <a:xfrm>
            <a:off x="10405872" y="3867912"/>
            <a:ext cx="0" cy="274320"/>
          </a:xfrm>
          <a:prstGeom prst="line">
            <a:avLst/>
          </a:prstGeom>
          <a:noFill/>
          <a:ln w="28575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42" name="Text 33"/>
          <p:cNvSpPr/>
          <p:nvPr/>
        </p:nvSpPr>
        <p:spPr>
          <a:xfrm>
            <a:off x="10378440" y="2971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</a:t>
            </a:r>
            <a:endParaRPr lang="en-US" sz="950" dirty="0"/>
          </a:p>
        </p:txBody>
      </p:sp>
      <p:sp>
        <p:nvSpPr>
          <p:cNvPr id="43" name="Shape 34"/>
          <p:cNvSpPr/>
          <p:nvPr/>
        </p:nvSpPr>
        <p:spPr>
          <a:xfrm>
            <a:off x="11292840" y="2926080"/>
            <a:ext cx="0" cy="685800"/>
          </a:xfrm>
          <a:prstGeom prst="line">
            <a:avLst/>
          </a:prstGeom>
          <a:noFill/>
          <a:ln w="28575">
            <a:solidFill>
              <a:srgbClr val="DC2626"/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6217920" y="3611880"/>
            <a:ext cx="5074920" cy="0"/>
          </a:xfrm>
          <a:prstGeom prst="line">
            <a:avLst/>
          </a:prstGeom>
          <a:noFill/>
          <a:ln w="28575">
            <a:solidFill>
              <a:srgbClr val="DC2626"/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6217920" y="3611880"/>
            <a:ext cx="0" cy="530352"/>
          </a:xfrm>
          <a:prstGeom prst="line">
            <a:avLst/>
          </a:prstGeom>
          <a:noFill/>
          <a:ln w="28575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46" name="Text 37"/>
          <p:cNvSpPr/>
          <p:nvPr/>
        </p:nvSpPr>
        <p:spPr>
          <a:xfrm>
            <a:off x="6355080" y="36758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</a:t>
            </a:r>
            <a:endParaRPr lang="en-US" sz="950" dirty="0"/>
          </a:p>
        </p:txBody>
      </p:sp>
      <p:sp>
        <p:nvSpPr>
          <p:cNvPr id="47" name="Shape 38"/>
          <p:cNvSpPr/>
          <p:nvPr/>
        </p:nvSpPr>
        <p:spPr>
          <a:xfrm>
            <a:off x="6217920" y="4160520"/>
            <a:ext cx="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48" name="Shape 39"/>
          <p:cNvSpPr/>
          <p:nvPr/>
        </p:nvSpPr>
        <p:spPr>
          <a:xfrm flipV="1">
            <a:off x="6739128" y="3246120"/>
            <a:ext cx="0" cy="91440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49" name="Shape 40"/>
          <p:cNvSpPr/>
          <p:nvPr/>
        </p:nvSpPr>
        <p:spPr>
          <a:xfrm>
            <a:off x="6739128" y="3246120"/>
            <a:ext cx="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0" name="Shape 41"/>
          <p:cNvSpPr/>
          <p:nvPr/>
        </p:nvSpPr>
        <p:spPr>
          <a:xfrm flipV="1">
            <a:off x="6739128" y="2852928"/>
            <a:ext cx="0" cy="393192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  <a:tailEnd type="triangle"/>
          </a:ln>
        </p:spPr>
      </p:sp>
      <p:sp>
        <p:nvSpPr>
          <p:cNvPr id="51" name="Text 42"/>
          <p:cNvSpPr/>
          <p:nvPr/>
        </p:nvSpPr>
        <p:spPr>
          <a:xfrm>
            <a:off x="6858000" y="33832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re-dispatch (≤ N)</a:t>
            </a:r>
            <a:endParaRPr lang="en-US" sz="900" dirty="0"/>
          </a:p>
        </p:txBody>
      </p:sp>
      <p:sp>
        <p:nvSpPr>
          <p:cNvPr id="52" name="Shape 43"/>
          <p:cNvSpPr/>
          <p:nvPr/>
        </p:nvSpPr>
        <p:spPr>
          <a:xfrm flipH="1">
            <a:off x="3337560" y="4823460"/>
            <a:ext cx="1508760" cy="0"/>
          </a:xfrm>
          <a:prstGeom prst="line">
            <a:avLst/>
          </a:prstGeom>
          <a:noFill/>
          <a:ln w="28575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53" name="Text 44"/>
          <p:cNvSpPr/>
          <p:nvPr/>
        </p:nvSpPr>
        <p:spPr>
          <a:xfrm>
            <a:off x="3310128" y="454914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BATCH PROCESSING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Execution Sequence — Cron Run with Retry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scheduled run flows across the actors, including the self-healing retry and dead-letter paths.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3504" y="1508760"/>
            <a:ext cx="1627632" cy="676656"/>
          </a:xfrm>
          <a:prstGeom prst="roundRect">
            <a:avLst>
              <a:gd name="adj" fmla="val 8108"/>
            </a:avLst>
          </a:prstGeom>
          <a:solidFill>
            <a:srgbClr val="475569"/>
          </a:solidFill>
          <a:ln/>
          <a:effectLst>
            <a:outerShdw sx="100000" sy="100000" kx="0" ky="0" algn="bl" rotWithShape="0" blurRad="76200" dist="25400" dir="8100000">
              <a:srgbClr val="0B1A33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70992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0704" y="1508760"/>
            <a:ext cx="1097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Scheduler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417320" y="2240280"/>
            <a:ext cx="0" cy="411480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2569464" y="1508760"/>
            <a:ext cx="1627632" cy="676656"/>
          </a:xfrm>
          <a:prstGeom prst="roundRect">
            <a:avLst>
              <a:gd name="adj" fmla="val 8108"/>
            </a:avLst>
          </a:prstGeom>
          <a:solidFill>
            <a:srgbClr val="2E5A8C"/>
          </a:solidFill>
          <a:ln/>
          <a:effectLst>
            <a:outerShdw sx="100000" sy="100000" kx="0" ky="0" algn="bl" rotWithShape="0" blurRad="76200" dist="25400" dir="8100000">
              <a:srgbClr val="0B1A33">
                <a:alpha val="1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336" y="170992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026664" y="1508760"/>
            <a:ext cx="1097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SOR DB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383280" y="2240280"/>
            <a:ext cx="0" cy="411480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13" name="Shape 9"/>
          <p:cNvSpPr/>
          <p:nvPr/>
        </p:nvSpPr>
        <p:spPr>
          <a:xfrm>
            <a:off x="4535424" y="1508760"/>
            <a:ext cx="1627632" cy="676656"/>
          </a:xfrm>
          <a:prstGeom prst="roundRect">
            <a:avLst>
              <a:gd name="adj" fmla="val 8108"/>
            </a:avLst>
          </a:prstGeom>
          <a:solidFill>
            <a:srgbClr val="0E7C7B"/>
          </a:solidFill>
          <a:ln/>
          <a:effectLst>
            <a:outerShdw sx="100000" sy="100000" kx="0" ky="0" algn="bl" rotWithShape="0" blurRad="76200" dist="25400" dir="8100000">
              <a:srgbClr val="0B1A33">
                <a:alpha val="16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1709928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92624" y="1508760"/>
            <a:ext cx="1097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Batch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Orchestrator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349240" y="2240280"/>
            <a:ext cx="0" cy="411480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17" name="Shape 12"/>
          <p:cNvSpPr/>
          <p:nvPr/>
        </p:nvSpPr>
        <p:spPr>
          <a:xfrm>
            <a:off x="6501384" y="1508760"/>
            <a:ext cx="1627632" cy="676656"/>
          </a:xfrm>
          <a:prstGeom prst="roundRect">
            <a:avLst>
              <a:gd name="adj" fmla="val 8108"/>
            </a:avLst>
          </a:prstGeom>
          <a:solidFill>
            <a:srgbClr val="6D28D9"/>
          </a:solidFill>
          <a:ln/>
          <a:effectLst>
            <a:outerShdw sx="100000" sy="100000" kx="0" ky="0" algn="bl" rotWithShape="0" blurRad="76200" dist="25400" dir="8100000">
              <a:srgbClr val="0B1A33">
                <a:alpha val="16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1709928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58584" y="1508760"/>
            <a:ext cx="1097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SLV Agent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7315200" y="2240280"/>
            <a:ext cx="0" cy="411480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21" name="Shape 15"/>
          <p:cNvSpPr/>
          <p:nvPr/>
        </p:nvSpPr>
        <p:spPr>
          <a:xfrm>
            <a:off x="8467344" y="1508760"/>
            <a:ext cx="1627632" cy="676656"/>
          </a:xfrm>
          <a:prstGeom prst="roundRect">
            <a:avLst>
              <a:gd name="adj" fmla="val 8108"/>
            </a:avLst>
          </a:prstGeom>
          <a:solidFill>
            <a:srgbClr val="F59E0B"/>
          </a:solidFill>
          <a:ln/>
          <a:effectLst>
            <a:outerShdw sx="100000" sy="100000" kx="0" ky="0" algn="bl" rotWithShape="0" blurRad="76200" dist="25400" dir="8100000">
              <a:srgbClr val="0B1A33">
                <a:alpha val="16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6216" y="1709928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924544" y="1508760"/>
            <a:ext cx="1097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Retry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Handler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9281160" y="2240280"/>
            <a:ext cx="0" cy="411480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25" name="Shape 18"/>
          <p:cNvSpPr/>
          <p:nvPr/>
        </p:nvSpPr>
        <p:spPr>
          <a:xfrm>
            <a:off x="10433304" y="1508760"/>
            <a:ext cx="1627632" cy="676656"/>
          </a:xfrm>
          <a:prstGeom prst="roundRect">
            <a:avLst>
              <a:gd name="adj" fmla="val 8108"/>
            </a:avLst>
          </a:prstGeom>
          <a:solidFill>
            <a:srgbClr val="16A34A"/>
          </a:solidFill>
          <a:ln/>
          <a:effectLst>
            <a:outerShdw sx="100000" sy="100000" kx="0" ky="0" algn="bl" rotWithShape="0" blurRad="76200" dist="25400" dir="8100000">
              <a:srgbClr val="0B1A33">
                <a:alpha val="16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2176" y="1709928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890504" y="1508760"/>
            <a:ext cx="1097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/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SOR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11247120" y="2240280"/>
            <a:ext cx="0" cy="411480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29" name="Shape 21"/>
          <p:cNvSpPr/>
          <p:nvPr/>
        </p:nvSpPr>
        <p:spPr>
          <a:xfrm>
            <a:off x="1417320" y="2606040"/>
            <a:ext cx="393192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0" name="Text 22"/>
          <p:cNvSpPr/>
          <p:nvPr/>
        </p:nvSpPr>
        <p:spPr>
          <a:xfrm>
            <a:off x="1463040" y="23134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trigger scheduled run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 flipH="1">
            <a:off x="3383280" y="3017520"/>
            <a:ext cx="196596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2" name="Text 24"/>
          <p:cNvSpPr/>
          <p:nvPr/>
        </p:nvSpPr>
        <p:spPr>
          <a:xfrm>
            <a:off x="3429000" y="272491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query pending Loan IDs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3383280" y="3401568"/>
            <a:ext cx="19659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34" name="Text 26"/>
          <p:cNvSpPr/>
          <p:nvPr/>
        </p:nvSpPr>
        <p:spPr>
          <a:xfrm>
            <a:off x="3429000" y="31089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return loan batch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5349240" y="3794760"/>
            <a:ext cx="196596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6" name="Text 28"/>
          <p:cNvSpPr/>
          <p:nvPr/>
        </p:nvSpPr>
        <p:spPr>
          <a:xfrm>
            <a:off x="5394960" y="35021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execute SLV(loanId)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7315200" y="4160520"/>
            <a:ext cx="502920" cy="0"/>
          </a:xfrm>
          <a:prstGeom prst="line">
            <a:avLst/>
          </a:prstGeom>
          <a:noFill/>
          <a:ln w="25400">
            <a:solidFill>
              <a:srgbClr val="6D28D9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7818120" y="4160520"/>
            <a:ext cx="0" cy="256032"/>
          </a:xfrm>
          <a:prstGeom prst="line">
            <a:avLst/>
          </a:prstGeom>
          <a:noFill/>
          <a:ln w="25400">
            <a:solidFill>
              <a:srgbClr val="6D28D9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 flipH="1">
            <a:off x="7315200" y="4416552"/>
            <a:ext cx="502920" cy="0"/>
          </a:xfrm>
          <a:prstGeom prst="line">
            <a:avLst/>
          </a:prstGeom>
          <a:noFill/>
          <a:ln w="25400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40" name="Text 32"/>
          <p:cNvSpPr/>
          <p:nvPr/>
        </p:nvSpPr>
        <p:spPr>
          <a:xfrm>
            <a:off x="7882128" y="4142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run 6-stage flow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 flipH="1">
            <a:off x="5349240" y="4709160"/>
            <a:ext cx="19659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42" name="Text 34"/>
          <p:cNvSpPr/>
          <p:nvPr/>
        </p:nvSpPr>
        <p:spPr>
          <a:xfrm>
            <a:off x="5394960" y="44165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result  /  failure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5349240" y="5120640"/>
            <a:ext cx="393192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44" name="Text 36"/>
          <p:cNvSpPr/>
          <p:nvPr/>
        </p:nvSpPr>
        <p:spPr>
          <a:xfrm>
            <a:off x="5394960" y="4828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on failure: enqueue retry</a:t>
            </a:r>
            <a:endParaRPr lang="en-US" sz="1000" dirty="0"/>
          </a:p>
        </p:txBody>
      </p:sp>
      <p:sp>
        <p:nvSpPr>
          <p:cNvPr id="45" name="Shape 37"/>
          <p:cNvSpPr/>
          <p:nvPr/>
        </p:nvSpPr>
        <p:spPr>
          <a:xfrm flipH="1">
            <a:off x="5349240" y="5532120"/>
            <a:ext cx="393192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dash"/>
            <a:tailEnd type="triangle"/>
          </a:ln>
        </p:spPr>
      </p:sp>
      <p:sp>
        <p:nvSpPr>
          <p:cNvPr id="46" name="Text 38"/>
          <p:cNvSpPr/>
          <p:nvPr/>
        </p:nvSpPr>
        <p:spPr>
          <a:xfrm>
            <a:off x="5394960" y="5239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re-dispatch (backoff · ≤ N)</a:t>
            </a:r>
            <a:endParaRPr lang="en-US" sz="1000" dirty="0"/>
          </a:p>
        </p:txBody>
      </p:sp>
      <p:sp>
        <p:nvSpPr>
          <p:cNvPr id="47" name="Shape 39"/>
          <p:cNvSpPr/>
          <p:nvPr/>
        </p:nvSpPr>
        <p:spPr>
          <a:xfrm>
            <a:off x="5349240" y="5943600"/>
            <a:ext cx="589788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48" name="Text 40"/>
          <p:cNvSpPr/>
          <p:nvPr/>
        </p:nvSpPr>
        <p:spPr>
          <a:xfrm>
            <a:off x="5394960" y="5650992"/>
            <a:ext cx="5806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on success: write verdict + audit</a:t>
            </a:r>
            <a:endParaRPr lang="en-US" sz="1000" dirty="0"/>
          </a:p>
        </p:txBody>
      </p:sp>
      <p:sp>
        <p:nvSpPr>
          <p:cNvPr id="49" name="Text 41"/>
          <p:cNvSpPr/>
          <p:nvPr/>
        </p:nvSpPr>
        <p:spPr>
          <a:xfrm>
            <a:off x="7863840" y="60533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after max retries → dead-letter &amp; HITL escalation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PROMPTING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Manual Prompt Engineering —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comes from Skan AI; document content from ECM OCR; GEPA + RLM produce the extraction prompts automatically.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697480" cy="1024128"/>
          </a:xfrm>
          <a:prstGeom prst="rect">
            <a:avLst/>
          </a:prstGeom>
          <a:solidFill>
            <a:srgbClr val="475569"/>
          </a:solidFill>
          <a:ln/>
          <a:effectLst>
            <a:outerShdw sx="100000" sy="100000" kx="0" ky="0" algn="bl" rotWithShape="0" blurRad="88900" dist="25400" dir="8100000">
              <a:srgbClr val="0B1A33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700784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166420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Skan AI Video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94944" y="208483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target process; derive sample Document IDs + key fields.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743200"/>
            <a:ext cx="2697480" cy="1024128"/>
          </a:xfrm>
          <a:prstGeom prst="rect">
            <a:avLst/>
          </a:prstGeom>
          <a:solidFill>
            <a:srgbClr val="0E7C7B"/>
          </a:solidFill>
          <a:ln/>
          <a:effectLst>
            <a:outerShdw sx="100000" sy="100000" kx="0" ky="0" algn="bl" rotWithShape="0" blurRad="88900" dist="25400" dir="8100000">
              <a:srgbClr val="0B1A33">
                <a:alpha val="1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889504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8992" y="285292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Ground-Truth Set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94944" y="327355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fields per document = the optimization target.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48640" y="3931920"/>
            <a:ext cx="2697480" cy="1371600"/>
          </a:xfrm>
          <a:prstGeom prst="rect">
            <a:avLst/>
          </a:prstGeom>
          <a:solidFill>
            <a:srgbClr val="2E5A8C"/>
          </a:solidFill>
          <a:ln/>
          <a:effectLst>
            <a:outerShdw sx="100000" sy="100000" kx="0" ky="0" algn="bl" rotWithShape="0" blurRad="88900" dist="25400" dir="8100000">
              <a:srgbClr val="0B1A33">
                <a:alpha val="16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4078224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78992" y="404164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ECM OCR + ECM APIs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694944" y="4462272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extract + getExtractionResults turn each doc into Markdown content (cached once per doc).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1897380" y="2578608"/>
            <a:ext cx="0" cy="164592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3977640" y="1554480"/>
            <a:ext cx="4160520" cy="3749040"/>
          </a:xfrm>
          <a:prstGeom prst="rect">
            <a:avLst/>
          </a:prstGeom>
          <a:solidFill>
            <a:srgbClr val="FFF7EC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B1A33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692140" y="1810512"/>
            <a:ext cx="731520" cy="731520"/>
          </a:xfrm>
          <a:prstGeom prst="ellipse">
            <a:avLst/>
          </a:prstGeom>
          <a:solidFill>
            <a:srgbClr val="D97706"/>
          </a:solidFill>
          <a:ln/>
          <a:effectLst>
            <a:outerShdw sx="100000" sy="100000" kx="0" ky="0" algn="bl" rotWithShape="0" blurRad="63500" dist="25400" dir="8100000">
              <a:srgbClr val="0B1A33">
                <a:alpha val="1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9650" y="2008022"/>
            <a:ext cx="336499" cy="33649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977640" y="2615184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GEPA Optimizer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3977640" y="298094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Generalized Extraction Prompt Architect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270248" y="3447288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4" name="Text 18"/>
          <p:cNvSpPr/>
          <p:nvPr/>
        </p:nvSpPr>
        <p:spPr>
          <a:xfrm>
            <a:off x="4526280" y="334670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outer loop — </a:t>
            </a:r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a mutation strategy each iteration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270248" y="3886200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6" name="Text 20"/>
          <p:cNvSpPr/>
          <p:nvPr/>
        </p:nvSpPr>
        <p:spPr>
          <a:xfrm>
            <a:off x="4526280" y="378561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GEPA inner loop — </a:t>
            </a:r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→ Propose → Parallel Eval → Pareto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270248" y="4325112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8" name="Text 22"/>
          <p:cNvSpPr/>
          <p:nvPr/>
        </p:nvSpPr>
        <p:spPr>
          <a:xfrm>
            <a:off x="4526280" y="422452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RLM strategy — </a:t>
            </a:r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token-aware: direct call or chunked loop for large docs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4270248" y="4764024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0" name="Text 24"/>
          <p:cNvSpPr/>
          <p:nvPr/>
        </p:nvSpPr>
        <p:spPr>
          <a:xfrm>
            <a:off x="4526280" y="46634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3-signal scoring — </a:t>
            </a:r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 · LLM judge · custom validators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3273552" y="2066544"/>
            <a:ext cx="6858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2" name="Shape 26"/>
          <p:cNvSpPr/>
          <p:nvPr/>
        </p:nvSpPr>
        <p:spPr>
          <a:xfrm>
            <a:off x="3273552" y="3255264"/>
            <a:ext cx="6858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3" name="Shape 27"/>
          <p:cNvSpPr/>
          <p:nvPr/>
        </p:nvSpPr>
        <p:spPr>
          <a:xfrm>
            <a:off x="3273552" y="4617720"/>
            <a:ext cx="6858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4" name="Shape 28"/>
          <p:cNvSpPr/>
          <p:nvPr/>
        </p:nvSpPr>
        <p:spPr>
          <a:xfrm>
            <a:off x="8549640" y="1737360"/>
            <a:ext cx="3108960" cy="141732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88900" dist="25400" dir="8100000">
              <a:srgbClr val="0B1A33">
                <a:alpha val="16000"/>
              </a:srgbClr>
            </a:outerShdw>
          </a:effectLst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5944" y="1883664"/>
            <a:ext cx="310896" cy="310896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079992" y="18470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Optimized Entity Prompts + Schema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8695944" y="2267712"/>
            <a:ext cx="2834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Pareto-best prompt promoted automatically — ready for production extraction.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8549640" y="3657600"/>
            <a:ext cx="3108960" cy="1325880"/>
          </a:xfrm>
          <a:prstGeom prst="rect">
            <a:avLst/>
          </a:prstGeom>
          <a:solidFill>
            <a:srgbClr val="6D28D9"/>
          </a:solidFill>
          <a:ln/>
          <a:effectLst>
            <a:outerShdw sx="100000" sy="100000" kx="0" ky="0" algn="bl" rotWithShape="0" blurRad="88900" dist="25400" dir="8100000">
              <a:srgbClr val="0B1A33">
                <a:alpha val="16000"/>
              </a:srgbClr>
            </a:outerShdw>
          </a:effectLst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5944" y="3803904"/>
            <a:ext cx="310896" cy="31089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9079992" y="37673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SLV Extraction Pipeline</a:t>
            </a:r>
            <a:endParaRPr lang="en-US" sz="1250" dirty="0"/>
          </a:p>
        </p:txBody>
      </p:sp>
      <p:sp>
        <p:nvSpPr>
          <p:cNvPr id="41" name="Text 33"/>
          <p:cNvSpPr/>
          <p:nvPr/>
        </p:nvSpPr>
        <p:spPr>
          <a:xfrm>
            <a:off x="8695944" y="4187952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the optimized prompts at runtime — no code change.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8165592" y="2441448"/>
            <a:ext cx="365760" cy="0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3" name="Shape 35"/>
          <p:cNvSpPr/>
          <p:nvPr/>
        </p:nvSpPr>
        <p:spPr>
          <a:xfrm>
            <a:off x="10104120" y="3154680"/>
            <a:ext cx="0" cy="50292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4" name="Shape 36"/>
          <p:cNvSpPr/>
          <p:nvPr/>
        </p:nvSpPr>
        <p:spPr>
          <a:xfrm>
            <a:off x="548640" y="5650992"/>
            <a:ext cx="11091672" cy="713232"/>
          </a:xfrm>
          <a:prstGeom prst="rect">
            <a:avLst/>
          </a:prstGeom>
          <a:solidFill>
            <a:srgbClr val="0B1A33"/>
          </a:solidFill>
          <a:ln/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5852160"/>
            <a:ext cx="310896" cy="310896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1325880" y="5650992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spend no time writing or tuning prompts — new document types are onboarded in hours, not weeks.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INSIDE THE OPTIMIZER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GEPA + RLM Recursive Optimization Loop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self-correcting loop that mutates the extraction schema, evaluates candidates in parallel, and promotes the Pareto-best.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1091672" cy="603504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76200" dist="25400" dir="8100000">
              <a:srgbClr val="0B1A33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81328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Selector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picks the mutation strategy each Ralph iteration:  reflection · schema_decomposition · template_restructure · demo_bootstrap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2615184" cy="1325880"/>
          </a:xfrm>
          <a:prstGeom prst="rect">
            <a:avLst/>
          </a:prstGeom>
          <a:solidFill>
            <a:srgbClr val="1E5E3A"/>
          </a:solidFill>
          <a:ln/>
          <a:effectLst>
            <a:outerShdw sx="100000" sy="100000" kx="0" ky="0" algn="bl" rotWithShape="0" blurRad="76200" dist="25400" dir="8100000">
              <a:srgbClr val="0B1A33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4944" y="257860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Reflect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4944" y="2971800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root-cause hypothesis on field-level failures.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82112" y="3131820"/>
            <a:ext cx="237744" cy="0"/>
          </a:xfrm>
          <a:prstGeom prst="line">
            <a:avLst/>
          </a:prstGeom>
          <a:noFill/>
          <a:ln w="28575">
            <a:solidFill>
              <a:srgbClr val="2C7A3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38144" y="2468880"/>
            <a:ext cx="2615184" cy="1325880"/>
          </a:xfrm>
          <a:prstGeom prst="rect">
            <a:avLst/>
          </a:prstGeom>
          <a:solidFill>
            <a:srgbClr val="247044"/>
          </a:solidFill>
          <a:ln/>
          <a:effectLst>
            <a:outerShdw sx="100000" sy="100000" kx="0" ky="0" algn="bl" rotWithShape="0" blurRad="76200" dist="25400" dir="8100000">
              <a:srgbClr val="0B1A33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84448" y="257860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· Propose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84448" y="2971800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N candidate schema mutations via the selected strategy.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71616" y="3131820"/>
            <a:ext cx="237744" cy="0"/>
          </a:xfrm>
          <a:prstGeom prst="line">
            <a:avLst/>
          </a:prstGeom>
          <a:noFill/>
          <a:ln w="28575">
            <a:solidFill>
              <a:srgbClr val="2C7A3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327648" y="2468880"/>
            <a:ext cx="2615184" cy="1325880"/>
          </a:xfrm>
          <a:prstGeom prst="rect">
            <a:avLst/>
          </a:prstGeom>
          <a:solidFill>
            <a:srgbClr val="2C7A3F"/>
          </a:solidFill>
          <a:ln/>
          <a:effectLst>
            <a:outerShdw sx="100000" sy="100000" kx="0" ky="0" algn="bl" rotWithShape="0" blurRad="76200" dist="25400" dir="8100000">
              <a:srgbClr val="0B1A33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73952" y="257860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· Parallel Eval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73952" y="2971800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all candidates at once: F1 + LLM judge + validators.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61120" y="3131820"/>
            <a:ext cx="237744" cy="0"/>
          </a:xfrm>
          <a:prstGeom prst="line">
            <a:avLst/>
          </a:prstGeom>
          <a:noFill/>
          <a:ln w="28575">
            <a:solidFill>
              <a:srgbClr val="2C7A3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217152" y="2468880"/>
            <a:ext cx="2615184" cy="1325880"/>
          </a:xfrm>
          <a:prstGeom prst="rect">
            <a:avLst/>
          </a:prstGeom>
          <a:solidFill>
            <a:srgbClr val="35924C"/>
          </a:solidFill>
          <a:ln/>
          <a:effectLst>
            <a:outerShdw sx="100000" sy="100000" kx="0" ky="0" algn="bl" rotWithShape="0" blurRad="76200" dist="25400" dir="8100000">
              <a:srgbClr val="0B1A33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363456" y="257860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· Pareto Archive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63456" y="2971800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Multi-objective dominance (F1 · Semantic · Validity) → promote best.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524744" y="3794760"/>
            <a:ext cx="0" cy="411480"/>
          </a:xfrm>
          <a:prstGeom prst="line">
            <a:avLst/>
          </a:prstGeom>
          <a:noFill/>
          <a:ln w="25400">
            <a:solidFill>
              <a:srgbClr val="2C7A3F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1856232" y="4206240"/>
            <a:ext cx="8668512" cy="0"/>
          </a:xfrm>
          <a:prstGeom prst="line">
            <a:avLst/>
          </a:prstGeom>
          <a:noFill/>
          <a:ln w="25400">
            <a:solidFill>
              <a:srgbClr val="2C7A3F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 flipV="1">
            <a:off x="1856232" y="3813048"/>
            <a:ext cx="0" cy="393192"/>
          </a:xfrm>
          <a:prstGeom prst="line">
            <a:avLst/>
          </a:prstGeom>
          <a:noFill/>
          <a:ln w="25400">
            <a:solidFill>
              <a:srgbClr val="2C7A3F"/>
            </a:solidFill>
            <a:prstDash val="dash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3163824" y="42245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re-iterate  ·  max 5 iterations  ·  patience = 2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526280"/>
            <a:ext cx="5806440" cy="1874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808" y="4690872"/>
            <a:ext cx="457200" cy="457200"/>
          </a:xfrm>
          <a:prstGeom prst="ellipse">
            <a:avLst/>
          </a:prstGeom>
          <a:solidFill>
            <a:srgbClr val="6D28D9"/>
          </a:solidFill>
          <a:ln/>
          <a:effectLst>
            <a:outerShdw sx="100000" sy="100000" kx="0" ky="0" algn="bl" rotWithShape="0" blurRad="63500" dist="25400" dir="8100000">
              <a:srgbClr val="0B1A33">
                <a:alpha val="18000"/>
              </a:srgbClr>
            </a:outerShdw>
          </a:effectLst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4814316"/>
            <a:ext cx="210312" cy="210312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325880" y="467258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RLM Strategy — token-aware extraction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713232" y="5239512"/>
            <a:ext cx="1417320" cy="896112"/>
          </a:xfrm>
          <a:prstGeom prst="diamond">
            <a:avLst/>
          </a:prstGeom>
          <a:solidFill>
            <a:srgbClr val="6D28D9"/>
          </a:solidFill>
          <a:ln/>
        </p:spPr>
      </p:sp>
      <p:sp>
        <p:nvSpPr>
          <p:cNvPr id="31" name="Text 28"/>
          <p:cNvSpPr/>
          <p:nvPr/>
        </p:nvSpPr>
        <p:spPr>
          <a:xfrm>
            <a:off x="713232" y="5239512"/>
            <a:ext cx="1417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&gt; 5,000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tokens?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2423160" y="5093208"/>
            <a:ext cx="3657600" cy="566928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63500" dist="25400" dir="8100000">
              <a:srgbClr val="0B1A33">
                <a:alpha val="14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2569464" y="51480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 →  Direct LLM call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2569464" y="540410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 in a single context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2423160" y="5751576"/>
            <a:ext cx="3657600" cy="566928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63500" dist="25400" dir="8100000">
              <a:srgbClr val="0B1A33">
                <a:alpha val="14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2569464" y="5806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Yes  →  Chunked loop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2569464" y="60624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 → search → analyze → finalize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2130552" y="5687568"/>
            <a:ext cx="109728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240280" y="5376672"/>
            <a:ext cx="0" cy="658368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240280" y="5376672"/>
            <a:ext cx="164592" cy="0"/>
          </a:xfrm>
          <a:prstGeom prst="line">
            <a:avLst/>
          </a:prstGeom>
          <a:noFill/>
          <a:ln w="22225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2240280" y="6035040"/>
            <a:ext cx="164592" cy="0"/>
          </a:xfrm>
          <a:prstGeom prst="line">
            <a:avLst/>
          </a:prstGeom>
          <a:noFill/>
          <a:ln w="22225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42" name="Text 39"/>
          <p:cNvSpPr/>
          <p:nvPr/>
        </p:nvSpPr>
        <p:spPr>
          <a:xfrm>
            <a:off x="6537960" y="4526280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METRICS DELIVERED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6537960" y="4873752"/>
            <a:ext cx="159105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B1A33">
                <a:alpha val="10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6537960" y="4873752"/>
            <a:ext cx="1591056" cy="82296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5" name="Text 42"/>
          <p:cNvSpPr/>
          <p:nvPr/>
        </p:nvSpPr>
        <p:spPr>
          <a:xfrm>
            <a:off x="6537960" y="5074920"/>
            <a:ext cx="1591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≥ 0.92</a:t>
            </a:r>
            <a:endParaRPr lang="en-US" sz="2600" dirty="0"/>
          </a:p>
        </p:txBody>
      </p:sp>
      <p:sp>
        <p:nvSpPr>
          <p:cNvPr id="46" name="Text 43"/>
          <p:cNvSpPr/>
          <p:nvPr/>
        </p:nvSpPr>
        <p:spPr>
          <a:xfrm>
            <a:off x="6583680" y="5751576"/>
            <a:ext cx="1499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field F1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8293608" y="4873752"/>
            <a:ext cx="159105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B1A33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8293608" y="4873752"/>
            <a:ext cx="1591056" cy="82296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49" name="Text 46"/>
          <p:cNvSpPr/>
          <p:nvPr/>
        </p:nvSpPr>
        <p:spPr>
          <a:xfrm>
            <a:off x="8293608" y="5074920"/>
            <a:ext cx="1591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</a:t>
            </a:r>
            <a:endParaRPr lang="en-US" sz="1700" dirty="0"/>
          </a:p>
        </p:txBody>
      </p:sp>
      <p:sp>
        <p:nvSpPr>
          <p:cNvPr id="50" name="Text 47"/>
          <p:cNvSpPr/>
          <p:nvPr/>
        </p:nvSpPr>
        <p:spPr>
          <a:xfrm>
            <a:off x="8339328" y="5751576"/>
            <a:ext cx="1499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judge score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10049256" y="4873752"/>
            <a:ext cx="159105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B1A33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10049256" y="4873752"/>
            <a:ext cx="1591056" cy="822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3" name="Text 50"/>
          <p:cNvSpPr/>
          <p:nvPr/>
        </p:nvSpPr>
        <p:spPr>
          <a:xfrm>
            <a:off x="10049256" y="5074920"/>
            <a:ext cx="1591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≥ 0.95</a:t>
            </a:r>
            <a:endParaRPr lang="en-US" sz="2600" dirty="0"/>
          </a:p>
        </p:txBody>
      </p:sp>
      <p:sp>
        <p:nvSpPr>
          <p:cNvPr id="54" name="Text 51"/>
          <p:cNvSpPr/>
          <p:nvPr/>
        </p:nvSpPr>
        <p:spPr>
          <a:xfrm>
            <a:off x="10094976" y="5751576"/>
            <a:ext cx="1499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pass rate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377440"/>
            <a:ext cx="5943600" cy="5943600"/>
          </a:xfrm>
          <a:prstGeom prst="ellipse">
            <a:avLst/>
          </a:prstGeom>
          <a:solidFill>
            <a:srgbClr val="16335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VALUE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20440" cy="1691640"/>
          </a:xfrm>
          <a:prstGeom prst="rect">
            <a:avLst/>
          </a:prstGeom>
          <a:solidFill>
            <a:srgbClr val="13294B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240280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63500" dist="25400" dir="8100000">
              <a:srgbClr val="0B1A33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183" y="2393351"/>
            <a:ext cx="260787" cy="2607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20370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60–80% less prompt effort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14400" y="288036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C9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stop hand-tuning brittle, field-specific prompts.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79976" y="1965960"/>
            <a:ext cx="3520440" cy="1691640"/>
          </a:xfrm>
          <a:prstGeom prst="rect">
            <a:avLst/>
          </a:prstGeom>
          <a:solidFill>
            <a:srgbClr val="13294B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36008" y="2240280"/>
            <a:ext cx="566928" cy="56692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63500" dist="25400" dir="8100000">
              <a:srgbClr val="0B1A33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079" y="2393351"/>
            <a:ext cx="260787" cy="2607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0096" y="220370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Hours, not weeks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54296" y="288036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C9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document type is onboarded with zero manual rules.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19872" y="1965960"/>
            <a:ext cx="3520440" cy="1691640"/>
          </a:xfrm>
          <a:prstGeom prst="rect">
            <a:avLst/>
          </a:prstGeom>
          <a:solidFill>
            <a:srgbClr val="13294B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75904" y="2240280"/>
            <a:ext cx="566928" cy="566928"/>
          </a:xfrm>
          <a:prstGeom prst="ellipse">
            <a:avLst/>
          </a:prstGeom>
          <a:solidFill>
            <a:srgbClr val="6D28D9"/>
          </a:solidFill>
          <a:ln/>
          <a:effectLst>
            <a:outerShdw sx="100000" sy="100000" kx="0" ky="0" algn="bl" rotWithShape="0" blurRad="63500" dist="25400" dir="8100000">
              <a:srgbClr val="0B1A33">
                <a:alpha val="1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8975" y="2393351"/>
            <a:ext cx="260787" cy="26078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79992" y="220370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Fewer HITL escalations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94192" y="288036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C9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extraction confidence reduces manual review load.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" y="3913632"/>
            <a:ext cx="3520440" cy="1691640"/>
          </a:xfrm>
          <a:prstGeom prst="rect">
            <a:avLst/>
          </a:prstGeom>
          <a:solidFill>
            <a:srgbClr val="13294B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96112" y="4187952"/>
            <a:ext cx="566928" cy="566928"/>
          </a:xfrm>
          <a:prstGeom prst="ellipse">
            <a:avLst/>
          </a:prstGeom>
          <a:solidFill>
            <a:srgbClr val="D97706"/>
          </a:solidFill>
          <a:ln/>
          <a:effectLst>
            <a:outerShdw sx="100000" sy="100000" kx="0" ky="0" algn="bl" rotWithShape="0" blurRad="63500" dist="25400" dir="8100000">
              <a:srgbClr val="0B1A33">
                <a:alpha val="18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183" y="4341023"/>
            <a:ext cx="260787" cy="26078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00200" y="4151376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Self-healing batch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14400" y="482803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C9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retries with backoff — no silent failures.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79976" y="3913632"/>
            <a:ext cx="3520440" cy="1691640"/>
          </a:xfrm>
          <a:prstGeom prst="rect">
            <a:avLst/>
          </a:prstGeom>
          <a:solidFill>
            <a:srgbClr val="13294B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636008" y="4187952"/>
            <a:ext cx="566928" cy="566928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63500" dist="25400" dir="8100000">
              <a:srgbClr val="0B1A33">
                <a:alpha val="18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9079" y="4341023"/>
            <a:ext cx="260787" cy="26078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40096" y="4151376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Compliance-ready audit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654296" y="482803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C9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written to the SOR with a full trail.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119872" y="3913632"/>
            <a:ext cx="3520440" cy="1691640"/>
          </a:xfrm>
          <a:prstGeom prst="rect">
            <a:avLst/>
          </a:prstGeom>
          <a:solidFill>
            <a:srgbClr val="13294B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375904" y="4187952"/>
            <a:ext cx="566928" cy="566928"/>
          </a:xfrm>
          <a:prstGeom prst="ellipse">
            <a:avLst/>
          </a:prstGeom>
          <a:solidFill>
            <a:srgbClr val="2E5A8C"/>
          </a:solidFill>
          <a:ln/>
          <a:effectLst>
            <a:outerShdw sx="100000" sy="100000" kx="0" ky="0" algn="bl" rotWithShape="0" blurRad="63500" dist="25400" dir="8100000">
              <a:srgbClr val="0B1A33">
                <a:alpha val="18000"/>
              </a:srgbClr>
            </a:outerShdw>
          </a:effectLst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8975" y="4341023"/>
            <a:ext cx="260787" cy="260787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079992" y="4151376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Reusable platform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394192" y="482803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C9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framework across SLV · ECAR · Invoice · Title Deed.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Config-driven.  Production-ready.  </a:t>
            </a:r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code change after deployment.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iDocs O2A — SLV Current-State Architecture</dc:title>
  <dc:subject>PptxGenJS Presentation</dc:subject>
  <dc:creator>Enterprise AI Architecture</dc:creator>
  <cp:lastModifiedBy>Enterprise AI Architecture</cp:lastModifiedBy>
  <cp:revision>1</cp:revision>
  <dcterms:created xsi:type="dcterms:W3CDTF">2026-05-29T15:28:34Z</dcterms:created>
  <dcterms:modified xsi:type="dcterms:W3CDTF">2026-05-29T15:28:34Z</dcterms:modified>
</cp:coreProperties>
</file>